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0"/>
  </p:notesMasterIdLst>
  <p:sldIdLst>
    <p:sldId id="256" r:id="rId2"/>
    <p:sldId id="257" r:id="rId3"/>
    <p:sldId id="264" r:id="rId4"/>
    <p:sldId id="269" r:id="rId5"/>
    <p:sldId id="259" r:id="rId6"/>
    <p:sldId id="270" r:id="rId7"/>
    <p:sldId id="266" r:id="rId8"/>
    <p:sldId id="26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2EB46A-26D9-4B79-A0BA-94F0685D32D0}" type="datetimeFigureOut">
              <a:rPr lang="en-US" smtClean="0"/>
              <a:t>10/17/2026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0B1D7-2D89-41AD-A35D-8CABD3C8F5C7}" type="slidenum">
              <a:rPr lang="en-US" smtClean="0"/>
              <a:t>‹#›</a:t>
            </a:fld>
            <a:endParaRPr lang="en-US"/>
          </a:p>
        </p:txBody>
      </p:sp>
    </p:spTree>
    <p:extLst>
      <p:ext uri="{BB962C8B-B14F-4D97-AF65-F5344CB8AC3E}">
        <p14:creationId xmlns:p14="http://schemas.microsoft.com/office/powerpoint/2010/main" val="1948375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7E520A89-1EA5-4B48-949C-8D49FA71E17A}" type="datetime1">
              <a:rPr lang="en-US" smtClean="0"/>
              <a:t>10/17/2026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A0E909-4676-4DFF-ACF3-65FD721A0C35}" type="datetime1">
              <a:rPr lang="en-US" smtClean="0"/>
              <a:t>10/17/2026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3A0D50A7-FC51-45F0-ACE8-52BE692F1158}" type="datetime1">
              <a:rPr lang="en-US" smtClean="0"/>
              <a:t>10/17/2026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166EF69A-9B98-48A6-8714-D502F21C59AC}" type="datetime1">
              <a:rPr lang="en-US" smtClean="0"/>
              <a:t>10/17/2026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2F68901D-AE11-453B-BAB5-EBEBF3FD6D52}" type="datetime1">
              <a:rPr lang="en-US" smtClean="0"/>
              <a:t>10/17/2026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C6EFD338-D2AE-4808-B786-CD8FFD22129C}" type="datetime1">
              <a:rPr lang="en-US" smtClean="0"/>
              <a:t>10/17/2026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9C5FCE24-E184-4609-AA44-1D31475DE58F}" type="datetime1">
              <a:rPr lang="en-US" smtClean="0"/>
              <a:t>10/17/2026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D2F83FF-62C9-4D61-84C4-3D92576553DA}" type="datetime1">
              <a:rPr lang="en-US" smtClean="0"/>
              <a:t>10/17/2026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C872C22-043C-453D-BC8F-50D3C2C8D791}" type="datetime1">
              <a:rPr lang="en-US" smtClean="0"/>
              <a:t>10/17/2026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20F6FA3-7D56-4F82-BC8C-4558DAB8F5A1}" type="datetime1">
              <a:rPr lang="en-US" smtClean="0"/>
              <a:t>10/17/2026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9966328A-B452-492B-B140-676AC5719AC5}" type="datetime1">
              <a:rPr lang="en-US" smtClean="0"/>
              <a:t>10/17/2026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42448" y="652145"/>
            <a:ext cx="9163372" cy="2316480"/>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Operating system and system programming (25CS2104E)</a:t>
            </a:r>
            <a:br>
              <a:rPr lang="en-US" sz="4000" b="1" dirty="0">
                <a:solidFill>
                  <a:srgbClr val="C00000"/>
                </a:solidFill>
                <a:latin typeface="+mn-lt"/>
              </a:rPr>
            </a:br>
            <a:br>
              <a:rPr lang="en-US" sz="4000" b="1" dirty="0">
                <a:solidFill>
                  <a:srgbClr val="C00000"/>
                </a:solidFill>
                <a:latin typeface="+mn-lt"/>
              </a:rPr>
            </a:br>
            <a:r>
              <a:rPr lang="en-US" sz="3200" b="1" dirty="0">
                <a:solidFill>
                  <a:srgbClr val="C00000"/>
                </a:solidFill>
                <a:latin typeface="+mn-lt"/>
              </a:rPr>
              <a:t>TITLE</a:t>
            </a:r>
          </a:p>
        </p:txBody>
      </p:sp>
      <p:sp>
        <p:nvSpPr>
          <p:cNvPr id="3" name="Subtitle 2"/>
          <p:cNvSpPr>
            <a:spLocks noGrp="1"/>
          </p:cNvSpPr>
          <p:nvPr>
            <p:ph type="subTitle" idx="1"/>
          </p:nvPr>
        </p:nvSpPr>
        <p:spPr>
          <a:xfrm>
            <a:off x="6640015" y="4846321"/>
            <a:ext cx="5384800" cy="1913890"/>
          </a:xfrm>
        </p:spPr>
        <p:txBody>
          <a:bodyPr/>
          <a:lstStyle/>
          <a:p>
            <a:r>
              <a:rPr lang="en-US" dirty="0">
                <a:solidFill>
                  <a:srgbClr val="002060"/>
                </a:solidFill>
              </a:rPr>
              <a:t>Team Members:</a:t>
            </a:r>
          </a:p>
          <a:p>
            <a:r>
              <a:rPr lang="en-US" dirty="0">
                <a:solidFill>
                  <a:srgbClr val="002060"/>
                </a:solidFill>
              </a:rPr>
              <a:t>Name-      Roll Number</a:t>
            </a:r>
          </a:p>
          <a:p>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endParaRPr lang="en-US" b="1" dirty="0">
              <a:solidFill>
                <a:schemeClr val="tx1"/>
              </a:solidFill>
            </a:endParaRPr>
          </a:p>
        </p:txBody>
      </p:sp>
      <p:sp>
        <p:nvSpPr>
          <p:cNvPr id="5" name="TextBox 4">
            <a:extLst>
              <a:ext uri="{FF2B5EF4-FFF2-40B4-BE49-F238E27FC236}">
                <a16:creationId xmlns:a16="http://schemas.microsoft.com/office/drawing/2014/main" id="{D2F78912-86E2-3DFA-A0B9-1E6CB3A9493D}"/>
              </a:ext>
            </a:extLst>
          </p:cNvPr>
          <p:cNvSpPr txBox="1"/>
          <p:nvPr/>
        </p:nvSpPr>
        <p:spPr>
          <a:xfrm>
            <a:off x="167185" y="4846321"/>
            <a:ext cx="4391167" cy="1508105"/>
          </a:xfrm>
          <a:prstGeom prst="rect">
            <a:avLst/>
          </a:prstGeom>
          <a:noFill/>
        </p:spPr>
        <p:txBody>
          <a:bodyPr wrap="square">
            <a:spAutoFit/>
          </a:bodyPr>
          <a:lstStyle/>
          <a:p>
            <a:pPr algn="ctr"/>
            <a:r>
              <a:rPr lang="en-US" sz="24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2400" kern="100" dirty="0">
              <a:latin typeface="Calibri" panose="020F0502020204030204" pitchFamily="34" charset="0"/>
              <a:ea typeface="Calibri" panose="020F0502020204030204" pitchFamily="34" charset="0"/>
              <a:cs typeface="Gautami" panose="020B0502040204020203" pitchFamily="34" charset="0"/>
            </a:endParaRPr>
          </a:p>
          <a:p>
            <a:pPr algn="ctr"/>
            <a:endParaRPr lang="en-US" sz="2200" b="1" dirty="0">
              <a:solidFill>
                <a:schemeClr val="tx1"/>
              </a:solidFill>
            </a:endParaRPr>
          </a:p>
          <a:p>
            <a:pPr algn="ctr"/>
            <a:r>
              <a:rPr lang="en-US" sz="2200" b="1" dirty="0">
                <a:solidFill>
                  <a:schemeClr val="tx1"/>
                </a:solidFill>
              </a:rPr>
              <a:t>Raghupathi M</a:t>
            </a:r>
          </a:p>
          <a:p>
            <a:pPr algn="ctr"/>
            <a:r>
              <a:rPr lang="en-US" sz="2400" b="1" dirty="0">
                <a:solidFill>
                  <a:schemeClr val="tx1"/>
                </a:solidFill>
              </a:rPr>
              <a:t>CSE Department</a:t>
            </a:r>
            <a:endParaRPr lang="en-US" sz="2400" dirty="0">
              <a:solidFill>
                <a:schemeClr val="tx1"/>
              </a:solidFill>
            </a:endParaRPr>
          </a:p>
        </p:txBody>
      </p:sp>
      <p:sp>
        <p:nvSpPr>
          <p:cNvPr id="7" name="TextBox 6">
            <a:extLst>
              <a:ext uri="{FF2B5EF4-FFF2-40B4-BE49-F238E27FC236}">
                <a16:creationId xmlns:a16="http://schemas.microsoft.com/office/drawing/2014/main" id="{86B79BAB-0195-236A-70B8-3DECB286B2B5}"/>
              </a:ext>
            </a:extLst>
          </p:cNvPr>
          <p:cNvSpPr txBox="1"/>
          <p:nvPr/>
        </p:nvSpPr>
        <p:spPr>
          <a:xfrm>
            <a:off x="3377272" y="3596988"/>
            <a:ext cx="6093724" cy="584775"/>
          </a:xfrm>
          <a:prstGeom prst="rect">
            <a:avLst/>
          </a:prstGeom>
          <a:noFill/>
        </p:spPr>
        <p:txBody>
          <a:bodyPr wrap="square">
            <a:spAutoFit/>
          </a:bodyPr>
          <a:lstStyle/>
          <a:p>
            <a:pPr algn="ctr"/>
            <a:r>
              <a:rPr lang="en-US" sz="3200" b="1" dirty="0">
                <a:solidFill>
                  <a:schemeClr val="accent1">
                    <a:lumMod val="75000"/>
                  </a:schemeClr>
                </a:solidFill>
                <a:latin typeface="+mn-lt"/>
              </a:rPr>
              <a:t>Review-I</a:t>
            </a:r>
            <a:endParaRPr lang="en-US" dirty="0">
              <a:solidFill>
                <a:schemeClr val="accent1">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736109" y="806448"/>
            <a:ext cx="6936386" cy="3735253"/>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7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7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704020202020204" pitchFamily="34" charset="0"/>
            </a:endParaRP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dirty="0">
                <a:solidFill>
                  <a:srgbClr val="000000"/>
                </a:solidFill>
                <a:latin typeface="Calibri" panose="020F0502020204030204" pitchFamily="34" charset="0"/>
                <a:cs typeface="Gautami" panose="020B0502040204020203" pitchFamily="34" charset="0"/>
              </a:rPr>
              <a:t>System Architecture</a:t>
            </a:r>
            <a:endParaRPr lang="en-IN" sz="3200" b="0" i="0" u="none" strike="noStrike" dirty="0">
              <a:effectLst/>
              <a:latin typeface="Arial" panose="020B0704020202020204" pitchFamily="34" charset="0"/>
            </a:endParaRP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endParaRPr lang="en-IN" dirty="0"/>
          </a:p>
        </p:txBody>
      </p:sp>
      <p:sp>
        <p:nvSpPr>
          <p:cNvPr id="8" name="Rectangle: Rounded Corners 7"/>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
        <p:nvSpPr>
          <p:cNvPr id="2" name="Date Placeholder 1">
            <a:extLst>
              <a:ext uri="{FF2B5EF4-FFF2-40B4-BE49-F238E27FC236}">
                <a16:creationId xmlns:a16="http://schemas.microsoft.com/office/drawing/2014/main" id="{821029D6-E146-55B7-6FE6-DD167709DA3C}"/>
              </a:ext>
            </a:extLst>
          </p:cNvPr>
          <p:cNvSpPr>
            <a:spLocks noGrp="1"/>
          </p:cNvSpPr>
          <p:nvPr>
            <p:ph type="dt" sz="half" idx="10"/>
          </p:nvPr>
        </p:nvSpPr>
        <p:spPr/>
        <p:txBody>
          <a:bodyPr/>
          <a:lstStyle/>
          <a:p>
            <a:fld id="{32179801-AD4A-4368-9C25-F8FFDCCA9D13}" type="datetime1">
              <a:rPr lang="en-US" smtClean="0"/>
              <a:t>10/17/2026</a:t>
            </a:fld>
            <a:endParaRPr lang="en-US"/>
          </a:p>
        </p:txBody>
      </p:sp>
      <p:sp>
        <p:nvSpPr>
          <p:cNvPr id="3" name="Slide Number Placeholder 2">
            <a:extLst>
              <a:ext uri="{FF2B5EF4-FFF2-40B4-BE49-F238E27FC236}">
                <a16:creationId xmlns:a16="http://schemas.microsoft.com/office/drawing/2014/main" id="{CF031D3A-8519-E357-DDA9-EAECFBBAEB51}"/>
              </a:ext>
            </a:extLst>
          </p:cNvPr>
          <p:cNvSpPr>
            <a:spLocks noGrp="1"/>
          </p:cNvSpPr>
          <p:nvPr>
            <p:ph type="sldNum" sz="quarter" idx="12"/>
          </p:nvPr>
        </p:nvSpPr>
        <p:spPr/>
        <p:txBody>
          <a:bodyPr/>
          <a:lstStyle/>
          <a:p>
            <a:fld id="{7EED5C5B-9EF4-44F9-8A5E-F9CA765F3D63}"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21970"/>
          </a:xfrm>
          <a:prstGeom prst="rect">
            <a:avLst/>
          </a:prstGeom>
          <a:noFill/>
        </p:spPr>
        <p:txBody>
          <a:bodyPr wrap="square" rtlCol="0">
            <a:spAutoFit/>
          </a:bodyPr>
          <a:lstStyle/>
          <a:p>
            <a:pPr algn="ctr"/>
            <a:r>
              <a:rPr lang="en-US" sz="2800" b="1" dirty="0">
                <a:solidFill>
                  <a:schemeClr val="bg1"/>
                </a:solidFill>
              </a:rPr>
              <a:t>Abstract</a:t>
            </a:r>
          </a:p>
        </p:txBody>
      </p:sp>
      <p:sp>
        <p:nvSpPr>
          <p:cNvPr id="5" name="Date Placeholder 4">
            <a:extLst>
              <a:ext uri="{FF2B5EF4-FFF2-40B4-BE49-F238E27FC236}">
                <a16:creationId xmlns:a16="http://schemas.microsoft.com/office/drawing/2014/main" id="{AFE0CFDE-CD93-201B-A399-23510E8EDADB}"/>
              </a:ext>
            </a:extLst>
          </p:cNvPr>
          <p:cNvSpPr>
            <a:spLocks noGrp="1"/>
          </p:cNvSpPr>
          <p:nvPr>
            <p:ph type="dt" sz="half" idx="10"/>
          </p:nvPr>
        </p:nvSpPr>
        <p:spPr/>
        <p:txBody>
          <a:bodyPr/>
          <a:lstStyle/>
          <a:p>
            <a:fld id="{35DB7AC3-148D-47E6-92EE-86CA146E5716}" type="datetime1">
              <a:rPr lang="en-US" smtClean="0"/>
              <a:t>10/17/2026</a:t>
            </a:fld>
            <a:endParaRPr lang="en-US"/>
          </a:p>
        </p:txBody>
      </p:sp>
      <p:sp>
        <p:nvSpPr>
          <p:cNvPr id="6" name="Slide Number Placeholder 5">
            <a:extLst>
              <a:ext uri="{FF2B5EF4-FFF2-40B4-BE49-F238E27FC236}">
                <a16:creationId xmlns:a16="http://schemas.microsoft.com/office/drawing/2014/main" id="{E7A097D3-BC04-F1C9-00E9-94B0738C1418}"/>
              </a:ext>
            </a:extLst>
          </p:cNvPr>
          <p:cNvSpPr>
            <a:spLocks noGrp="1"/>
          </p:cNvSpPr>
          <p:nvPr>
            <p:ph type="sldNum" sz="quarter" idx="12"/>
          </p:nvPr>
        </p:nvSpPr>
        <p:spPr/>
        <p:txBody>
          <a:bodyPr/>
          <a:lstStyle/>
          <a:p>
            <a:fld id="{7EED5C5B-9EF4-44F9-8A5E-F9CA765F3D63}" type="slidenum">
              <a:rPr lang="en-US" smtClean="0"/>
              <a:t>3</a:t>
            </a:fld>
            <a:endParaRPr lang="en-US"/>
          </a:p>
        </p:txBody>
      </p:sp>
      <p:sp>
        <p:nvSpPr>
          <p:cNvPr id="7" name="TextBox 6">
            <a:extLst>
              <a:ext uri="{FF2B5EF4-FFF2-40B4-BE49-F238E27FC236}">
                <a16:creationId xmlns:a16="http://schemas.microsoft.com/office/drawing/2014/main" id="{89C926F9-E181-C52A-7D27-8A82F601B7B1}"/>
              </a:ext>
            </a:extLst>
          </p:cNvPr>
          <p:cNvSpPr txBox="1"/>
          <p:nvPr/>
        </p:nvSpPr>
        <p:spPr>
          <a:xfrm>
            <a:off x="1407544" y="2710493"/>
            <a:ext cx="9946256" cy="2862322"/>
          </a:xfrm>
          <a:prstGeom prst="rect">
            <a:avLst/>
          </a:prstGeom>
          <a:noFill/>
        </p:spPr>
        <p:txBody>
          <a:bodyPr wrap="square">
            <a:spAutoFit/>
          </a:bodyPr>
          <a:lstStyle/>
          <a:p>
            <a:r>
              <a:rPr lang="en-US" dirty="0"/>
              <a:t>The Virtual Memory Page Replacement Visualizer is an Operating Systems and System Programming (OSSP) project developed using the C programming language on Ubuntu Linux. The main objective of this project is to demonstrate how operating systems manage memory when the available physical memory frames are limited. It implements three page replacement algorithms: First-In, First-Out (FIFO), Least Recently Used (LRU), and Optimal Page Replacement. The system displays memory frame contents step by step and identifies page hits and page faults for each page reference. It also calculates hit ratios and page fault ratios and compares the performance of all three algorithms using the same input sequence. This project helps students understand virtual memory management, page replacement strategies, and memory utilization. It provides a simple, interactive, and practical way to learn fundamental operating system concepts through simulation.</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E3377-AD48-C317-56EF-BB6DEA41CB0F}"/>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E7DFF9B-AF13-3CBC-C2B1-8156A6C27ADB}"/>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42E30A3-627A-0C0D-8E68-FFD84EF51DAA}"/>
              </a:ext>
            </a:extLst>
          </p:cNvPr>
          <p:cNvSpPr txBox="1"/>
          <p:nvPr/>
        </p:nvSpPr>
        <p:spPr>
          <a:xfrm>
            <a:off x="2660072" y="221673"/>
            <a:ext cx="6871855" cy="521970"/>
          </a:xfrm>
          <a:prstGeom prst="rect">
            <a:avLst/>
          </a:prstGeom>
          <a:noFill/>
        </p:spPr>
        <p:txBody>
          <a:bodyPr wrap="square" rtlCol="0">
            <a:spAutoFit/>
          </a:bodyPr>
          <a:lstStyle/>
          <a:p>
            <a:pPr algn="ctr"/>
            <a:r>
              <a:rPr lang="en-US" sz="2800" b="1" dirty="0">
                <a:solidFill>
                  <a:schemeClr val="bg1"/>
                </a:solidFill>
              </a:rPr>
              <a:t>Introduction</a:t>
            </a:r>
          </a:p>
        </p:txBody>
      </p:sp>
      <p:sp>
        <p:nvSpPr>
          <p:cNvPr id="5" name="Date Placeholder 4">
            <a:extLst>
              <a:ext uri="{FF2B5EF4-FFF2-40B4-BE49-F238E27FC236}">
                <a16:creationId xmlns:a16="http://schemas.microsoft.com/office/drawing/2014/main" id="{1FE559BE-24A9-DD17-5994-3CA09176D0C0}"/>
              </a:ext>
            </a:extLst>
          </p:cNvPr>
          <p:cNvSpPr>
            <a:spLocks noGrp="1"/>
          </p:cNvSpPr>
          <p:nvPr>
            <p:ph type="dt" sz="half" idx="10"/>
          </p:nvPr>
        </p:nvSpPr>
        <p:spPr/>
        <p:txBody>
          <a:bodyPr/>
          <a:lstStyle/>
          <a:p>
            <a:fld id="{35DB7AC3-148D-47E6-92EE-86CA146E5716}" type="datetime1">
              <a:rPr lang="en-US" smtClean="0"/>
              <a:t>10/17/2026</a:t>
            </a:fld>
            <a:endParaRPr lang="en-US"/>
          </a:p>
        </p:txBody>
      </p:sp>
      <p:sp>
        <p:nvSpPr>
          <p:cNvPr id="6" name="Slide Number Placeholder 5">
            <a:extLst>
              <a:ext uri="{FF2B5EF4-FFF2-40B4-BE49-F238E27FC236}">
                <a16:creationId xmlns:a16="http://schemas.microsoft.com/office/drawing/2014/main" id="{917CD269-83F2-F4C5-3099-E35078586FE9}"/>
              </a:ext>
            </a:extLst>
          </p:cNvPr>
          <p:cNvSpPr>
            <a:spLocks noGrp="1"/>
          </p:cNvSpPr>
          <p:nvPr>
            <p:ph type="sldNum" sz="quarter" idx="12"/>
          </p:nvPr>
        </p:nvSpPr>
        <p:spPr/>
        <p:txBody>
          <a:bodyPr/>
          <a:lstStyle/>
          <a:p>
            <a:fld id="{7EED5C5B-9EF4-44F9-8A5E-F9CA765F3D63}" type="slidenum">
              <a:rPr lang="en-US" smtClean="0"/>
              <a:t>4</a:t>
            </a:fld>
            <a:endParaRPr lang="en-US"/>
          </a:p>
        </p:txBody>
      </p:sp>
      <p:sp>
        <p:nvSpPr>
          <p:cNvPr id="7" name="TextBox 6">
            <a:extLst>
              <a:ext uri="{FF2B5EF4-FFF2-40B4-BE49-F238E27FC236}">
                <a16:creationId xmlns:a16="http://schemas.microsoft.com/office/drawing/2014/main" id="{0F95636C-B040-8502-E1A3-9A8B4798E4D8}"/>
              </a:ext>
            </a:extLst>
          </p:cNvPr>
          <p:cNvSpPr txBox="1"/>
          <p:nvPr/>
        </p:nvSpPr>
        <p:spPr>
          <a:xfrm>
            <a:off x="544902" y="2727270"/>
            <a:ext cx="11353799" cy="2862322"/>
          </a:xfrm>
          <a:prstGeom prst="rect">
            <a:avLst/>
          </a:prstGeom>
          <a:noFill/>
        </p:spPr>
        <p:txBody>
          <a:bodyPr wrap="square">
            <a:spAutoFit/>
          </a:bodyPr>
          <a:lstStyle/>
          <a:p>
            <a:r>
              <a:rPr lang="en-US" dirty="0"/>
              <a:t>Virtual memory is an essential concept in operating systems that allows programs to execute efficiently even when physical memory (RAM) is limited. It divides memory into fixed-size units called pages, which are loaded into physical memory frames when required. When all available frames are occupied and a new page needs to be loaded, the operating system must select an existing page for replacement. This process is known as page </a:t>
            </a:r>
            <a:r>
              <a:rPr lang="en-US" dirty="0" err="1"/>
              <a:t>replacement.The</a:t>
            </a:r>
            <a:r>
              <a:rPr lang="en-US" dirty="0"/>
              <a:t> Virtual Memory Page Replacement Visualizer is a C-based project developed on Ubuntu Linux to demonstrate this process through simulation. It implements three popular page replacement algorithms: FIFO (First-In, First-Out), LRU (Least Recently Used), and Optimal Page Replacement. The project displays frame contents, identifies page hits and page faults, calculates performance ratios, and compares the algorithms. It provides a practical learning tool for understanding memory management, analyzing algorithm efficiency, and exploring fundamental operating system concepts.</a:t>
            </a:r>
            <a:endParaRPr lang="en-IN" dirty="0"/>
          </a:p>
        </p:txBody>
      </p:sp>
    </p:spTree>
    <p:extLst>
      <p:ext uri="{BB962C8B-B14F-4D97-AF65-F5344CB8AC3E}">
        <p14:creationId xmlns:p14="http://schemas.microsoft.com/office/powerpoint/2010/main" val="4016184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596004" y="221615"/>
            <a:ext cx="6374349" cy="52959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Box 3"/>
          <p:cNvSpPr txBox="1"/>
          <p:nvPr/>
        </p:nvSpPr>
        <p:spPr>
          <a:xfrm>
            <a:off x="3970655" y="221615"/>
            <a:ext cx="6374348" cy="671195"/>
          </a:xfrm>
          <a:prstGeom prst="rect">
            <a:avLst/>
          </a:prstGeom>
          <a:noFill/>
        </p:spPr>
        <p:txBody>
          <a:bodyPr wrap="square" rtlCol="0">
            <a:noAutofit/>
          </a:bodyPr>
          <a:lstStyle/>
          <a:p>
            <a:r>
              <a:rPr lang="en-US" altLang="en-US" sz="2800" b="1" dirty="0">
                <a:solidFill>
                  <a:schemeClr val="bg1"/>
                </a:solidFill>
              </a:rPr>
              <a:t>Hardware and Software requirements</a:t>
            </a:r>
          </a:p>
        </p:txBody>
      </p:sp>
      <p:sp>
        <p:nvSpPr>
          <p:cNvPr id="5" name="Text Box 4"/>
          <p:cNvSpPr txBox="1"/>
          <p:nvPr/>
        </p:nvSpPr>
        <p:spPr>
          <a:xfrm>
            <a:off x="2974340" y="1253490"/>
            <a:ext cx="5774690" cy="3643630"/>
          </a:xfrm>
          <a:prstGeom prst="rect">
            <a:avLst/>
          </a:prstGeom>
          <a:noFill/>
        </p:spPr>
        <p:txBody>
          <a:bodyPr wrap="square" rtlCol="0">
            <a:noAutofit/>
          </a:bodyPr>
          <a:lstStyle/>
          <a:p>
            <a:endParaRPr lang="en-US" altLang="en-US" sz="2500" b="1" dirty="0"/>
          </a:p>
        </p:txBody>
      </p:sp>
      <p:sp>
        <p:nvSpPr>
          <p:cNvPr id="3" name="Date Placeholder 2">
            <a:extLst>
              <a:ext uri="{FF2B5EF4-FFF2-40B4-BE49-F238E27FC236}">
                <a16:creationId xmlns:a16="http://schemas.microsoft.com/office/drawing/2014/main" id="{7A4B27F7-CA90-4D59-F334-BDE7693BDAAC}"/>
              </a:ext>
            </a:extLst>
          </p:cNvPr>
          <p:cNvSpPr>
            <a:spLocks noGrp="1"/>
          </p:cNvSpPr>
          <p:nvPr>
            <p:ph type="dt" sz="half" idx="10"/>
          </p:nvPr>
        </p:nvSpPr>
        <p:spPr/>
        <p:txBody>
          <a:bodyPr/>
          <a:lstStyle/>
          <a:p>
            <a:fld id="{FEC03DE9-87EE-417A-AE3E-75342F0B996E}" type="datetime1">
              <a:rPr lang="en-US" smtClean="0"/>
              <a:t>10/17/2026</a:t>
            </a:fld>
            <a:endParaRPr lang="en-US"/>
          </a:p>
        </p:txBody>
      </p:sp>
      <p:sp>
        <p:nvSpPr>
          <p:cNvPr id="6" name="Slide Number Placeholder 5">
            <a:extLst>
              <a:ext uri="{FF2B5EF4-FFF2-40B4-BE49-F238E27FC236}">
                <a16:creationId xmlns:a16="http://schemas.microsoft.com/office/drawing/2014/main" id="{C9563280-B772-867A-6341-08A7DB8CCFB2}"/>
              </a:ext>
            </a:extLst>
          </p:cNvPr>
          <p:cNvSpPr>
            <a:spLocks noGrp="1"/>
          </p:cNvSpPr>
          <p:nvPr>
            <p:ph type="sldNum" sz="quarter" idx="12"/>
          </p:nvPr>
        </p:nvSpPr>
        <p:spPr/>
        <p:txBody>
          <a:bodyPr/>
          <a:lstStyle/>
          <a:p>
            <a:fld id="{7EED5C5B-9EF4-44F9-8A5E-F9CA765F3D63}" type="slidenum">
              <a:rPr lang="en-US" smtClean="0"/>
              <a:t>5</a:t>
            </a:fld>
            <a:endParaRPr lang="en-US"/>
          </a:p>
        </p:txBody>
      </p:sp>
      <p:graphicFrame>
        <p:nvGraphicFramePr>
          <p:cNvPr id="7" name="Table 6">
            <a:extLst>
              <a:ext uri="{FF2B5EF4-FFF2-40B4-BE49-F238E27FC236}">
                <a16:creationId xmlns:a16="http://schemas.microsoft.com/office/drawing/2014/main" id="{3B8CF521-AAB7-B5E5-C1C1-91E396E01464}"/>
              </a:ext>
            </a:extLst>
          </p:cNvPr>
          <p:cNvGraphicFramePr>
            <a:graphicFrameLocks noGrp="1"/>
          </p:cNvGraphicFramePr>
          <p:nvPr>
            <p:extLst>
              <p:ext uri="{D42A27DB-BD31-4B8C-83A1-F6EECF244321}">
                <p14:modId xmlns:p14="http://schemas.microsoft.com/office/powerpoint/2010/main" val="1827909931"/>
              </p:ext>
            </p:extLst>
          </p:nvPr>
        </p:nvGraphicFramePr>
        <p:xfrm>
          <a:off x="1096992" y="3499236"/>
          <a:ext cx="10515600" cy="219456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1267741764"/>
                    </a:ext>
                  </a:extLst>
                </a:gridCol>
                <a:gridCol w="3505200">
                  <a:extLst>
                    <a:ext uri="{9D8B030D-6E8A-4147-A177-3AD203B41FA5}">
                      <a16:colId xmlns:a16="http://schemas.microsoft.com/office/drawing/2014/main" val="2495889741"/>
                    </a:ext>
                  </a:extLst>
                </a:gridCol>
                <a:gridCol w="3505200">
                  <a:extLst>
                    <a:ext uri="{9D8B030D-6E8A-4147-A177-3AD203B41FA5}">
                      <a16:colId xmlns:a16="http://schemas.microsoft.com/office/drawing/2014/main" val="1588880814"/>
                    </a:ext>
                  </a:extLst>
                </a:gridCol>
              </a:tblGrid>
              <a:tr h="0">
                <a:tc>
                  <a:txBody>
                    <a:bodyPr/>
                    <a:lstStyle/>
                    <a:p>
                      <a:pPr>
                        <a:buNone/>
                      </a:pPr>
                      <a:r>
                        <a:rPr lang="en-IN"/>
                        <a:t>S. No.</a:t>
                      </a:r>
                    </a:p>
                  </a:txBody>
                  <a:tcPr anchor="ctr"/>
                </a:tc>
                <a:tc>
                  <a:txBody>
                    <a:bodyPr/>
                    <a:lstStyle/>
                    <a:p>
                      <a:pPr>
                        <a:buNone/>
                      </a:pPr>
                      <a:r>
                        <a:rPr lang="en-IN"/>
                        <a:t>Component</a:t>
                      </a:r>
                    </a:p>
                  </a:txBody>
                  <a:tcPr anchor="ctr"/>
                </a:tc>
                <a:tc>
                  <a:txBody>
                    <a:bodyPr/>
                    <a:lstStyle/>
                    <a:p>
                      <a:pPr>
                        <a:buNone/>
                      </a:pPr>
                      <a:r>
                        <a:rPr lang="en-IN"/>
                        <a:t>Minimum requirement</a:t>
                      </a:r>
                    </a:p>
                  </a:txBody>
                  <a:tcPr anchor="ctr"/>
                </a:tc>
                <a:extLst>
                  <a:ext uri="{0D108BD9-81ED-4DB2-BD59-A6C34878D82A}">
                    <a16:rowId xmlns:a16="http://schemas.microsoft.com/office/drawing/2014/main" val="1335491997"/>
                  </a:ext>
                </a:extLst>
              </a:tr>
              <a:tr h="0">
                <a:tc>
                  <a:txBody>
                    <a:bodyPr/>
                    <a:lstStyle/>
                    <a:p>
                      <a:pPr>
                        <a:buNone/>
                      </a:pPr>
                      <a:r>
                        <a:rPr lang="en-IN"/>
                        <a:t>1</a:t>
                      </a:r>
                    </a:p>
                  </a:txBody>
                  <a:tcPr anchor="ctr"/>
                </a:tc>
                <a:tc>
                  <a:txBody>
                    <a:bodyPr/>
                    <a:lstStyle/>
                    <a:p>
                      <a:pPr>
                        <a:buNone/>
                      </a:pPr>
                      <a:r>
                        <a:rPr lang="en-IN"/>
                        <a:t>Processor</a:t>
                      </a:r>
                    </a:p>
                  </a:txBody>
                  <a:tcPr anchor="ctr"/>
                </a:tc>
                <a:tc>
                  <a:txBody>
                    <a:bodyPr/>
                    <a:lstStyle/>
                    <a:p>
                      <a:pPr>
                        <a:buNone/>
                      </a:pPr>
                      <a:r>
                        <a:rPr lang="en-IN"/>
                        <a:t>Intel Core i3 or equivalent</a:t>
                      </a:r>
                    </a:p>
                  </a:txBody>
                  <a:tcPr anchor="ctr"/>
                </a:tc>
                <a:extLst>
                  <a:ext uri="{0D108BD9-81ED-4DB2-BD59-A6C34878D82A}">
                    <a16:rowId xmlns:a16="http://schemas.microsoft.com/office/drawing/2014/main" val="1516896843"/>
                  </a:ext>
                </a:extLst>
              </a:tr>
              <a:tr h="0">
                <a:tc>
                  <a:txBody>
                    <a:bodyPr/>
                    <a:lstStyle/>
                    <a:p>
                      <a:pPr>
                        <a:buNone/>
                      </a:pPr>
                      <a:r>
                        <a:rPr lang="en-IN"/>
                        <a:t>2</a:t>
                      </a:r>
                    </a:p>
                  </a:txBody>
                  <a:tcPr anchor="ctr"/>
                </a:tc>
                <a:tc>
                  <a:txBody>
                    <a:bodyPr/>
                    <a:lstStyle/>
                    <a:p>
                      <a:pPr>
                        <a:buNone/>
                      </a:pPr>
                      <a:r>
                        <a:rPr lang="en-IN"/>
                        <a:t>RAM</a:t>
                      </a:r>
                    </a:p>
                  </a:txBody>
                  <a:tcPr anchor="ctr"/>
                </a:tc>
                <a:tc>
                  <a:txBody>
                    <a:bodyPr/>
                    <a:lstStyle/>
                    <a:p>
                      <a:pPr>
                        <a:buNone/>
                      </a:pPr>
                      <a:r>
                        <a:rPr lang="en-IN"/>
                        <a:t>4 GB</a:t>
                      </a:r>
                    </a:p>
                  </a:txBody>
                  <a:tcPr anchor="ctr"/>
                </a:tc>
                <a:extLst>
                  <a:ext uri="{0D108BD9-81ED-4DB2-BD59-A6C34878D82A}">
                    <a16:rowId xmlns:a16="http://schemas.microsoft.com/office/drawing/2014/main" val="3368529246"/>
                  </a:ext>
                </a:extLst>
              </a:tr>
              <a:tr h="0">
                <a:tc>
                  <a:txBody>
                    <a:bodyPr/>
                    <a:lstStyle/>
                    <a:p>
                      <a:pPr>
                        <a:buNone/>
                      </a:pPr>
                      <a:r>
                        <a:rPr lang="en-IN"/>
                        <a:t>3</a:t>
                      </a:r>
                    </a:p>
                  </a:txBody>
                  <a:tcPr anchor="ctr"/>
                </a:tc>
                <a:tc>
                  <a:txBody>
                    <a:bodyPr/>
                    <a:lstStyle/>
                    <a:p>
                      <a:pPr>
                        <a:buNone/>
                      </a:pPr>
                      <a:r>
                        <a:rPr lang="en-IN"/>
                        <a:t>Storage</a:t>
                      </a:r>
                    </a:p>
                  </a:txBody>
                  <a:tcPr anchor="ctr"/>
                </a:tc>
                <a:tc>
                  <a:txBody>
                    <a:bodyPr/>
                    <a:lstStyle/>
                    <a:p>
                      <a:pPr>
                        <a:buNone/>
                      </a:pPr>
                      <a:r>
                        <a:rPr lang="en-IN"/>
                        <a:t>500 MB free space</a:t>
                      </a:r>
                    </a:p>
                  </a:txBody>
                  <a:tcPr anchor="ctr"/>
                </a:tc>
                <a:extLst>
                  <a:ext uri="{0D108BD9-81ED-4DB2-BD59-A6C34878D82A}">
                    <a16:rowId xmlns:a16="http://schemas.microsoft.com/office/drawing/2014/main" val="290425260"/>
                  </a:ext>
                </a:extLst>
              </a:tr>
              <a:tr h="0">
                <a:tc>
                  <a:txBody>
                    <a:bodyPr/>
                    <a:lstStyle/>
                    <a:p>
                      <a:pPr>
                        <a:buNone/>
                      </a:pPr>
                      <a:r>
                        <a:rPr lang="en-IN"/>
                        <a:t>4</a:t>
                      </a:r>
                    </a:p>
                  </a:txBody>
                  <a:tcPr anchor="ctr"/>
                </a:tc>
                <a:tc>
                  <a:txBody>
                    <a:bodyPr/>
                    <a:lstStyle/>
                    <a:p>
                      <a:pPr>
                        <a:buNone/>
                      </a:pPr>
                      <a:r>
                        <a:rPr lang="en-IN"/>
                        <a:t>System</a:t>
                      </a:r>
                    </a:p>
                  </a:txBody>
                  <a:tcPr anchor="ctr"/>
                </a:tc>
                <a:tc>
                  <a:txBody>
                    <a:bodyPr/>
                    <a:lstStyle/>
                    <a:p>
                      <a:pPr>
                        <a:buNone/>
                      </a:pPr>
                      <a:r>
                        <a:rPr lang="en-IN"/>
                        <a:t>Desktop or laptop</a:t>
                      </a:r>
                    </a:p>
                  </a:txBody>
                  <a:tcPr anchor="ctr"/>
                </a:tc>
                <a:extLst>
                  <a:ext uri="{0D108BD9-81ED-4DB2-BD59-A6C34878D82A}">
                    <a16:rowId xmlns:a16="http://schemas.microsoft.com/office/drawing/2014/main" val="2381773203"/>
                  </a:ext>
                </a:extLst>
              </a:tr>
              <a:tr h="0">
                <a:tc>
                  <a:txBody>
                    <a:bodyPr/>
                    <a:lstStyle/>
                    <a:p>
                      <a:pPr>
                        <a:buNone/>
                      </a:pPr>
                      <a:r>
                        <a:rPr lang="en-IN"/>
                        <a:t>5</a:t>
                      </a:r>
                    </a:p>
                  </a:txBody>
                  <a:tcPr anchor="ctr"/>
                </a:tc>
                <a:tc>
                  <a:txBody>
                    <a:bodyPr/>
                    <a:lstStyle/>
                    <a:p>
                      <a:pPr>
                        <a:buNone/>
                      </a:pPr>
                      <a:r>
                        <a:rPr lang="en-IN"/>
                        <a:t>Input devices</a:t>
                      </a:r>
                    </a:p>
                  </a:txBody>
                  <a:tcPr anchor="ctr"/>
                </a:tc>
                <a:tc>
                  <a:txBody>
                    <a:bodyPr/>
                    <a:lstStyle/>
                    <a:p>
                      <a:pPr>
                        <a:buNone/>
                      </a:pPr>
                      <a:r>
                        <a:rPr lang="en-IN" dirty="0"/>
                        <a:t>Keyboard and mouse</a:t>
                      </a:r>
                    </a:p>
                  </a:txBody>
                  <a:tcPr anchor="ctr"/>
                </a:tc>
                <a:extLst>
                  <a:ext uri="{0D108BD9-81ED-4DB2-BD59-A6C34878D82A}">
                    <a16:rowId xmlns:a16="http://schemas.microsoft.com/office/drawing/2014/main" val="2548047436"/>
                  </a:ext>
                </a:extLst>
              </a:tr>
            </a:tbl>
          </a:graphicData>
        </a:graphic>
      </p:graphicFrame>
      <p:sp>
        <p:nvSpPr>
          <p:cNvPr id="9" name="TextBox 8">
            <a:extLst>
              <a:ext uri="{FF2B5EF4-FFF2-40B4-BE49-F238E27FC236}">
                <a16:creationId xmlns:a16="http://schemas.microsoft.com/office/drawing/2014/main" id="{DFA4E2D5-D276-022D-0090-F506769542DD}"/>
              </a:ext>
            </a:extLst>
          </p:cNvPr>
          <p:cNvSpPr txBox="1"/>
          <p:nvPr/>
        </p:nvSpPr>
        <p:spPr>
          <a:xfrm>
            <a:off x="1063267" y="2878762"/>
            <a:ext cx="6094562" cy="369332"/>
          </a:xfrm>
          <a:prstGeom prst="rect">
            <a:avLst/>
          </a:prstGeom>
          <a:noFill/>
        </p:spPr>
        <p:txBody>
          <a:bodyPr wrap="square">
            <a:spAutoFit/>
          </a:bodyPr>
          <a:lstStyle/>
          <a:p>
            <a:pPr>
              <a:buNone/>
            </a:pPr>
            <a:r>
              <a:rPr lang="en-IN" b="1" dirty="0"/>
              <a:t>Hardware requirements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41594C-6D9A-6A0E-B554-25D03C9F6699}"/>
              </a:ext>
            </a:extLst>
          </p:cNvPr>
          <p:cNvSpPr>
            <a:spLocks noGrp="1"/>
          </p:cNvSpPr>
          <p:nvPr>
            <p:ph type="dt" sz="half" idx="10"/>
          </p:nvPr>
        </p:nvSpPr>
        <p:spPr/>
        <p:txBody>
          <a:bodyPr/>
          <a:lstStyle/>
          <a:p>
            <a:fld id="{9C5FCE24-E184-4609-AA44-1D31475DE58F}" type="datetime1">
              <a:rPr lang="en-US" smtClean="0"/>
              <a:t>10/17/2026</a:t>
            </a:fld>
            <a:endParaRPr lang="en-US"/>
          </a:p>
        </p:txBody>
      </p:sp>
      <p:sp>
        <p:nvSpPr>
          <p:cNvPr id="3" name="Slide Number Placeholder 2">
            <a:extLst>
              <a:ext uri="{FF2B5EF4-FFF2-40B4-BE49-F238E27FC236}">
                <a16:creationId xmlns:a16="http://schemas.microsoft.com/office/drawing/2014/main" id="{11492ACD-9876-CF06-46D5-82A453ECF5A1}"/>
              </a:ext>
            </a:extLst>
          </p:cNvPr>
          <p:cNvSpPr>
            <a:spLocks noGrp="1"/>
          </p:cNvSpPr>
          <p:nvPr>
            <p:ph type="sldNum" sz="quarter" idx="12"/>
          </p:nvPr>
        </p:nvSpPr>
        <p:spPr/>
        <p:txBody>
          <a:bodyPr/>
          <a:lstStyle/>
          <a:p>
            <a:fld id="{7EED5C5B-9EF4-44F9-8A5E-F9CA765F3D63}" type="slidenum">
              <a:rPr lang="en-US" smtClean="0"/>
              <a:t>6</a:t>
            </a:fld>
            <a:endParaRPr lang="en-US"/>
          </a:p>
        </p:txBody>
      </p:sp>
      <p:graphicFrame>
        <p:nvGraphicFramePr>
          <p:cNvPr id="6" name="Table 5">
            <a:extLst>
              <a:ext uri="{FF2B5EF4-FFF2-40B4-BE49-F238E27FC236}">
                <a16:creationId xmlns:a16="http://schemas.microsoft.com/office/drawing/2014/main" id="{5A326B52-5500-F8FD-56AE-A5ED022836C2}"/>
              </a:ext>
            </a:extLst>
          </p:cNvPr>
          <p:cNvGraphicFramePr>
            <a:graphicFrameLocks noGrp="1"/>
          </p:cNvGraphicFramePr>
          <p:nvPr>
            <p:extLst>
              <p:ext uri="{D42A27DB-BD31-4B8C-83A1-F6EECF244321}">
                <p14:modId xmlns:p14="http://schemas.microsoft.com/office/powerpoint/2010/main" val="3951563619"/>
              </p:ext>
            </p:extLst>
          </p:nvPr>
        </p:nvGraphicFramePr>
        <p:xfrm>
          <a:off x="769188" y="3547545"/>
          <a:ext cx="10515600" cy="292608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4280021113"/>
                    </a:ext>
                  </a:extLst>
                </a:gridCol>
                <a:gridCol w="3505200">
                  <a:extLst>
                    <a:ext uri="{9D8B030D-6E8A-4147-A177-3AD203B41FA5}">
                      <a16:colId xmlns:a16="http://schemas.microsoft.com/office/drawing/2014/main" val="2624754042"/>
                    </a:ext>
                  </a:extLst>
                </a:gridCol>
                <a:gridCol w="3505200">
                  <a:extLst>
                    <a:ext uri="{9D8B030D-6E8A-4147-A177-3AD203B41FA5}">
                      <a16:colId xmlns:a16="http://schemas.microsoft.com/office/drawing/2014/main" val="3657408605"/>
                    </a:ext>
                  </a:extLst>
                </a:gridCol>
              </a:tblGrid>
              <a:tr h="0">
                <a:tc>
                  <a:txBody>
                    <a:bodyPr/>
                    <a:lstStyle/>
                    <a:p>
                      <a:pPr>
                        <a:buNone/>
                      </a:pPr>
                      <a:r>
                        <a:rPr lang="en-IN"/>
                        <a:t>S. No.</a:t>
                      </a:r>
                    </a:p>
                  </a:txBody>
                  <a:tcPr anchor="ctr"/>
                </a:tc>
                <a:tc>
                  <a:txBody>
                    <a:bodyPr/>
                    <a:lstStyle/>
                    <a:p>
                      <a:pPr>
                        <a:buNone/>
                      </a:pPr>
                      <a:r>
                        <a:rPr lang="en-IN"/>
                        <a:t>Software</a:t>
                      </a:r>
                    </a:p>
                  </a:txBody>
                  <a:tcPr anchor="ctr"/>
                </a:tc>
                <a:tc>
                  <a:txBody>
                    <a:bodyPr/>
                    <a:lstStyle/>
                    <a:p>
                      <a:pPr>
                        <a:buNone/>
                      </a:pPr>
                      <a:r>
                        <a:rPr lang="en-IN"/>
                        <a:t>Requirement</a:t>
                      </a:r>
                    </a:p>
                  </a:txBody>
                  <a:tcPr anchor="ctr"/>
                </a:tc>
                <a:extLst>
                  <a:ext uri="{0D108BD9-81ED-4DB2-BD59-A6C34878D82A}">
                    <a16:rowId xmlns:a16="http://schemas.microsoft.com/office/drawing/2014/main" val="1434180421"/>
                  </a:ext>
                </a:extLst>
              </a:tr>
              <a:tr h="0">
                <a:tc>
                  <a:txBody>
                    <a:bodyPr/>
                    <a:lstStyle/>
                    <a:p>
                      <a:pPr>
                        <a:buNone/>
                      </a:pPr>
                      <a:r>
                        <a:rPr lang="en-IN"/>
                        <a:t>1</a:t>
                      </a:r>
                    </a:p>
                  </a:txBody>
                  <a:tcPr anchor="ctr"/>
                </a:tc>
                <a:tc>
                  <a:txBody>
                    <a:bodyPr/>
                    <a:lstStyle/>
                    <a:p>
                      <a:pPr>
                        <a:buNone/>
                      </a:pPr>
                      <a:r>
                        <a:rPr lang="en-IN"/>
                        <a:t>Operating System</a:t>
                      </a:r>
                    </a:p>
                  </a:txBody>
                  <a:tcPr anchor="ctr"/>
                </a:tc>
                <a:tc>
                  <a:txBody>
                    <a:bodyPr/>
                    <a:lstStyle/>
                    <a:p>
                      <a:pPr>
                        <a:buNone/>
                      </a:pPr>
                      <a:r>
                        <a:rPr lang="en-IN"/>
                        <a:t>Ubuntu Linux</a:t>
                      </a:r>
                    </a:p>
                  </a:txBody>
                  <a:tcPr anchor="ctr"/>
                </a:tc>
                <a:extLst>
                  <a:ext uri="{0D108BD9-81ED-4DB2-BD59-A6C34878D82A}">
                    <a16:rowId xmlns:a16="http://schemas.microsoft.com/office/drawing/2014/main" val="19122668"/>
                  </a:ext>
                </a:extLst>
              </a:tr>
              <a:tr h="0">
                <a:tc>
                  <a:txBody>
                    <a:bodyPr/>
                    <a:lstStyle/>
                    <a:p>
                      <a:pPr>
                        <a:buNone/>
                      </a:pPr>
                      <a:r>
                        <a:rPr lang="en-IN"/>
                        <a:t>2</a:t>
                      </a:r>
                    </a:p>
                  </a:txBody>
                  <a:tcPr anchor="ctr"/>
                </a:tc>
                <a:tc>
                  <a:txBody>
                    <a:bodyPr/>
                    <a:lstStyle/>
                    <a:p>
                      <a:pPr>
                        <a:buNone/>
                      </a:pPr>
                      <a:r>
                        <a:rPr lang="en-IN"/>
                        <a:t>Programming Language</a:t>
                      </a:r>
                    </a:p>
                  </a:txBody>
                  <a:tcPr anchor="ctr"/>
                </a:tc>
                <a:tc>
                  <a:txBody>
                    <a:bodyPr/>
                    <a:lstStyle/>
                    <a:p>
                      <a:pPr>
                        <a:buNone/>
                      </a:pPr>
                      <a:r>
                        <a:rPr lang="en-IN"/>
                        <a:t>C</a:t>
                      </a:r>
                    </a:p>
                  </a:txBody>
                  <a:tcPr anchor="ctr"/>
                </a:tc>
                <a:extLst>
                  <a:ext uri="{0D108BD9-81ED-4DB2-BD59-A6C34878D82A}">
                    <a16:rowId xmlns:a16="http://schemas.microsoft.com/office/drawing/2014/main" val="365650316"/>
                  </a:ext>
                </a:extLst>
              </a:tr>
              <a:tr h="0">
                <a:tc>
                  <a:txBody>
                    <a:bodyPr/>
                    <a:lstStyle/>
                    <a:p>
                      <a:pPr>
                        <a:buNone/>
                      </a:pPr>
                      <a:r>
                        <a:rPr lang="en-IN"/>
                        <a:t>3</a:t>
                      </a:r>
                    </a:p>
                  </a:txBody>
                  <a:tcPr anchor="ctr"/>
                </a:tc>
                <a:tc>
                  <a:txBody>
                    <a:bodyPr/>
                    <a:lstStyle/>
                    <a:p>
                      <a:pPr>
                        <a:buNone/>
                      </a:pPr>
                      <a:r>
                        <a:rPr lang="en-IN"/>
                        <a:t>Compiler</a:t>
                      </a:r>
                    </a:p>
                  </a:txBody>
                  <a:tcPr anchor="ctr"/>
                </a:tc>
                <a:tc>
                  <a:txBody>
                    <a:bodyPr/>
                    <a:lstStyle/>
                    <a:p>
                      <a:pPr>
                        <a:buNone/>
                      </a:pPr>
                      <a:r>
                        <a:rPr lang="en-IN"/>
                        <a:t>GCC</a:t>
                      </a:r>
                    </a:p>
                  </a:txBody>
                  <a:tcPr anchor="ctr"/>
                </a:tc>
                <a:extLst>
                  <a:ext uri="{0D108BD9-81ED-4DB2-BD59-A6C34878D82A}">
                    <a16:rowId xmlns:a16="http://schemas.microsoft.com/office/drawing/2014/main" val="957218662"/>
                  </a:ext>
                </a:extLst>
              </a:tr>
              <a:tr h="0">
                <a:tc>
                  <a:txBody>
                    <a:bodyPr/>
                    <a:lstStyle/>
                    <a:p>
                      <a:pPr>
                        <a:buNone/>
                      </a:pPr>
                      <a:r>
                        <a:rPr lang="en-IN"/>
                        <a:t>4</a:t>
                      </a:r>
                    </a:p>
                  </a:txBody>
                  <a:tcPr anchor="ctr"/>
                </a:tc>
                <a:tc>
                  <a:txBody>
                    <a:bodyPr/>
                    <a:lstStyle/>
                    <a:p>
                      <a:pPr>
                        <a:buNone/>
                      </a:pPr>
                      <a:r>
                        <a:rPr lang="en-IN"/>
                        <a:t>Code Editor</a:t>
                      </a:r>
                    </a:p>
                  </a:txBody>
                  <a:tcPr anchor="ctr"/>
                </a:tc>
                <a:tc>
                  <a:txBody>
                    <a:bodyPr/>
                    <a:lstStyle/>
                    <a:p>
                      <a:pPr>
                        <a:buNone/>
                      </a:pPr>
                      <a:r>
                        <a:rPr lang="en-IN"/>
                        <a:t>Visual Studio Code or Nano</a:t>
                      </a:r>
                    </a:p>
                  </a:txBody>
                  <a:tcPr anchor="ctr"/>
                </a:tc>
                <a:extLst>
                  <a:ext uri="{0D108BD9-81ED-4DB2-BD59-A6C34878D82A}">
                    <a16:rowId xmlns:a16="http://schemas.microsoft.com/office/drawing/2014/main" val="1219701907"/>
                  </a:ext>
                </a:extLst>
              </a:tr>
              <a:tr h="0">
                <a:tc>
                  <a:txBody>
                    <a:bodyPr/>
                    <a:lstStyle/>
                    <a:p>
                      <a:pPr>
                        <a:buNone/>
                      </a:pPr>
                      <a:r>
                        <a:rPr lang="en-IN"/>
                        <a:t>5</a:t>
                      </a:r>
                    </a:p>
                  </a:txBody>
                  <a:tcPr anchor="ctr"/>
                </a:tc>
                <a:tc>
                  <a:txBody>
                    <a:bodyPr/>
                    <a:lstStyle/>
                    <a:p>
                      <a:pPr>
                        <a:buNone/>
                      </a:pPr>
                      <a:r>
                        <a:rPr lang="en-IN"/>
                        <a:t>Version Control</a:t>
                      </a:r>
                    </a:p>
                  </a:txBody>
                  <a:tcPr anchor="ctr"/>
                </a:tc>
                <a:tc>
                  <a:txBody>
                    <a:bodyPr/>
                    <a:lstStyle/>
                    <a:p>
                      <a:pPr>
                        <a:buNone/>
                      </a:pPr>
                      <a:r>
                        <a:rPr lang="en-IN"/>
                        <a:t>Git</a:t>
                      </a:r>
                    </a:p>
                  </a:txBody>
                  <a:tcPr anchor="ctr"/>
                </a:tc>
                <a:extLst>
                  <a:ext uri="{0D108BD9-81ED-4DB2-BD59-A6C34878D82A}">
                    <a16:rowId xmlns:a16="http://schemas.microsoft.com/office/drawing/2014/main" val="2981334436"/>
                  </a:ext>
                </a:extLst>
              </a:tr>
              <a:tr h="0">
                <a:tc>
                  <a:txBody>
                    <a:bodyPr/>
                    <a:lstStyle/>
                    <a:p>
                      <a:pPr>
                        <a:buNone/>
                      </a:pPr>
                      <a:r>
                        <a:rPr lang="en-IN"/>
                        <a:t>6</a:t>
                      </a:r>
                    </a:p>
                  </a:txBody>
                  <a:tcPr anchor="ctr"/>
                </a:tc>
                <a:tc>
                  <a:txBody>
                    <a:bodyPr/>
                    <a:lstStyle/>
                    <a:p>
                      <a:pPr>
                        <a:buNone/>
                      </a:pPr>
                      <a:r>
                        <a:rPr lang="en-IN"/>
                        <a:t>Repository Hosting</a:t>
                      </a:r>
                    </a:p>
                  </a:txBody>
                  <a:tcPr anchor="ctr"/>
                </a:tc>
                <a:tc>
                  <a:txBody>
                    <a:bodyPr/>
                    <a:lstStyle/>
                    <a:p>
                      <a:pPr>
                        <a:buNone/>
                      </a:pPr>
                      <a:r>
                        <a:rPr lang="en-IN"/>
                        <a:t>GitHub</a:t>
                      </a:r>
                    </a:p>
                  </a:txBody>
                  <a:tcPr anchor="ctr"/>
                </a:tc>
                <a:extLst>
                  <a:ext uri="{0D108BD9-81ED-4DB2-BD59-A6C34878D82A}">
                    <a16:rowId xmlns:a16="http://schemas.microsoft.com/office/drawing/2014/main" val="3618870281"/>
                  </a:ext>
                </a:extLst>
              </a:tr>
              <a:tr h="0">
                <a:tc>
                  <a:txBody>
                    <a:bodyPr/>
                    <a:lstStyle/>
                    <a:p>
                      <a:pPr>
                        <a:buNone/>
                      </a:pPr>
                      <a:r>
                        <a:rPr lang="en-IN"/>
                        <a:t>7</a:t>
                      </a:r>
                    </a:p>
                  </a:txBody>
                  <a:tcPr anchor="ctr"/>
                </a:tc>
                <a:tc>
                  <a:txBody>
                    <a:bodyPr/>
                    <a:lstStyle/>
                    <a:p>
                      <a:pPr>
                        <a:buNone/>
                      </a:pPr>
                      <a:r>
                        <a:rPr lang="en-IN"/>
                        <a:t>Terminal</a:t>
                      </a:r>
                    </a:p>
                  </a:txBody>
                  <a:tcPr anchor="ctr"/>
                </a:tc>
                <a:tc>
                  <a:txBody>
                    <a:bodyPr/>
                    <a:lstStyle/>
                    <a:p>
                      <a:pPr>
                        <a:buNone/>
                      </a:pPr>
                      <a:r>
                        <a:rPr lang="en-IN" dirty="0"/>
                        <a:t>Ubuntu Terminal</a:t>
                      </a:r>
                    </a:p>
                  </a:txBody>
                  <a:tcPr anchor="ctr"/>
                </a:tc>
                <a:extLst>
                  <a:ext uri="{0D108BD9-81ED-4DB2-BD59-A6C34878D82A}">
                    <a16:rowId xmlns:a16="http://schemas.microsoft.com/office/drawing/2014/main" val="1943973008"/>
                  </a:ext>
                </a:extLst>
              </a:tr>
            </a:tbl>
          </a:graphicData>
        </a:graphic>
      </p:graphicFrame>
      <p:sp>
        <p:nvSpPr>
          <p:cNvPr id="8" name="TextBox 7">
            <a:extLst>
              <a:ext uri="{FF2B5EF4-FFF2-40B4-BE49-F238E27FC236}">
                <a16:creationId xmlns:a16="http://schemas.microsoft.com/office/drawing/2014/main" id="{9204C600-8BB1-FCCB-E66C-B8E2C9C03616}"/>
              </a:ext>
            </a:extLst>
          </p:cNvPr>
          <p:cNvSpPr txBox="1"/>
          <p:nvPr/>
        </p:nvSpPr>
        <p:spPr>
          <a:xfrm>
            <a:off x="769188" y="3059668"/>
            <a:ext cx="6094562" cy="369332"/>
          </a:xfrm>
          <a:prstGeom prst="rect">
            <a:avLst/>
          </a:prstGeom>
          <a:noFill/>
        </p:spPr>
        <p:txBody>
          <a:bodyPr wrap="square">
            <a:spAutoFit/>
          </a:bodyPr>
          <a:lstStyle/>
          <a:p>
            <a:pPr>
              <a:buNone/>
            </a:pPr>
            <a:r>
              <a:rPr lang="en-IN" b="1" dirty="0"/>
              <a:t>Software requirements</a:t>
            </a:r>
          </a:p>
        </p:txBody>
      </p:sp>
    </p:spTree>
    <p:extLst>
      <p:ext uri="{BB962C8B-B14F-4D97-AF65-F5344CB8AC3E}">
        <p14:creationId xmlns:p14="http://schemas.microsoft.com/office/powerpoint/2010/main" val="2789781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197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 System Architecture</a:t>
            </a:r>
            <a:endParaRPr lang="en-US" sz="2800" b="1" dirty="0">
              <a:solidFill>
                <a:schemeClr val="bg1"/>
              </a:solidFill>
            </a:endParaRPr>
          </a:p>
        </p:txBody>
      </p:sp>
      <p:sp>
        <p:nvSpPr>
          <p:cNvPr id="5" name="Date Placeholder 4">
            <a:extLst>
              <a:ext uri="{FF2B5EF4-FFF2-40B4-BE49-F238E27FC236}">
                <a16:creationId xmlns:a16="http://schemas.microsoft.com/office/drawing/2014/main" id="{57C0467B-10ED-0439-355C-AB546904D26E}"/>
              </a:ext>
            </a:extLst>
          </p:cNvPr>
          <p:cNvSpPr>
            <a:spLocks noGrp="1"/>
          </p:cNvSpPr>
          <p:nvPr>
            <p:ph type="dt" sz="half" idx="10"/>
          </p:nvPr>
        </p:nvSpPr>
        <p:spPr/>
        <p:txBody>
          <a:bodyPr/>
          <a:lstStyle/>
          <a:p>
            <a:fld id="{90F60B09-1F77-4EDB-8151-1F057DCF6ADD}" type="datetime1">
              <a:rPr lang="en-US" smtClean="0"/>
              <a:t>10/17/2026</a:t>
            </a:fld>
            <a:endParaRPr lang="en-US"/>
          </a:p>
        </p:txBody>
      </p:sp>
      <p:sp>
        <p:nvSpPr>
          <p:cNvPr id="6" name="Slide Number Placeholder 5">
            <a:extLst>
              <a:ext uri="{FF2B5EF4-FFF2-40B4-BE49-F238E27FC236}">
                <a16:creationId xmlns:a16="http://schemas.microsoft.com/office/drawing/2014/main" id="{B94128EC-BFB0-E687-111E-633D5D579C93}"/>
              </a:ext>
            </a:extLst>
          </p:cNvPr>
          <p:cNvSpPr>
            <a:spLocks noGrp="1"/>
          </p:cNvSpPr>
          <p:nvPr>
            <p:ph type="sldNum" sz="quarter" idx="12"/>
          </p:nvPr>
        </p:nvSpPr>
        <p:spPr/>
        <p:txBody>
          <a:bodyPr/>
          <a:lstStyle/>
          <a:p>
            <a:fld id="{7EED5C5B-9EF4-44F9-8A5E-F9CA765F3D63}" type="slidenum">
              <a:rPr lang="en-US" smtClean="0"/>
              <a:t>7</a:t>
            </a:fld>
            <a:endParaRPr lang="en-US"/>
          </a:p>
        </p:txBody>
      </p:sp>
      <p:pic>
        <p:nvPicPr>
          <p:cNvPr id="7" name="Picture 6">
            <a:extLst>
              <a:ext uri="{FF2B5EF4-FFF2-40B4-BE49-F238E27FC236}">
                <a16:creationId xmlns:a16="http://schemas.microsoft.com/office/drawing/2014/main" id="{CD0224E5-D954-0B4D-C098-2F033ADB49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4944" y="1181818"/>
            <a:ext cx="6196642" cy="464748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
        <p:nvSpPr>
          <p:cNvPr id="2" name="Date Placeholder 1">
            <a:extLst>
              <a:ext uri="{FF2B5EF4-FFF2-40B4-BE49-F238E27FC236}">
                <a16:creationId xmlns:a16="http://schemas.microsoft.com/office/drawing/2014/main" id="{9D864234-7A34-7521-498A-DD3F6E491DB4}"/>
              </a:ext>
            </a:extLst>
          </p:cNvPr>
          <p:cNvSpPr>
            <a:spLocks noGrp="1"/>
          </p:cNvSpPr>
          <p:nvPr>
            <p:ph type="dt" sz="half" idx="10"/>
          </p:nvPr>
        </p:nvSpPr>
        <p:spPr/>
        <p:txBody>
          <a:bodyPr/>
          <a:lstStyle/>
          <a:p>
            <a:fld id="{76602186-ABE7-42AB-8003-2FA9F73CA34D}" type="datetime1">
              <a:rPr lang="en-US" smtClean="0"/>
              <a:t>10/17/2026</a:t>
            </a:fld>
            <a:endParaRPr lang="en-US"/>
          </a:p>
        </p:txBody>
      </p:sp>
      <p:sp>
        <p:nvSpPr>
          <p:cNvPr id="4" name="Slide Number Placeholder 3">
            <a:extLst>
              <a:ext uri="{FF2B5EF4-FFF2-40B4-BE49-F238E27FC236}">
                <a16:creationId xmlns:a16="http://schemas.microsoft.com/office/drawing/2014/main" id="{9A89A4F7-9EC8-2129-C8BB-C74E5E40CE1A}"/>
              </a:ext>
            </a:extLst>
          </p:cNvPr>
          <p:cNvSpPr>
            <a:spLocks noGrp="1"/>
          </p:cNvSpPr>
          <p:nvPr>
            <p:ph type="sldNum" sz="quarter" idx="12"/>
          </p:nvPr>
        </p:nvSpPr>
        <p:spPr/>
        <p:txBody>
          <a:bodyPr/>
          <a:lstStyle/>
          <a:p>
            <a:fld id="{7EED5C5B-9EF4-44F9-8A5E-F9CA765F3D63}" type="slidenum">
              <a:rPr lang="en-US" smtClean="0"/>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468</Words>
  <Application>Microsoft Office PowerPoint</Application>
  <PresentationFormat>Widescreen</PresentationFormat>
  <Paragraphs>79</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Times New Roman</vt:lpstr>
      <vt:lpstr>Office Theme</vt:lpstr>
      <vt:lpstr>       Operating system and system programming (25CS2104E)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Korsapati Tejas Reddy</cp:lastModifiedBy>
  <cp:revision>24</cp:revision>
  <dcterms:created xsi:type="dcterms:W3CDTF">2026-08-31T05:18:20Z</dcterms:created>
  <dcterms:modified xsi:type="dcterms:W3CDTF">2026-10-17T06:03:12Z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2E321512259BCFD0FA0C956AC94F79BD_43</vt:lpwstr>
  </property>
  <property fmtid="{D5CDD505-2E9C-101B-9397-08002B2CF9AE}" pid="3" name="KSOProductBuildVer">
    <vt:lpwstr>1033-12.1.26050.26050</vt:lpwstr>
  </property>
</Properties>
</file>